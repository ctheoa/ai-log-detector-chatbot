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7" r:id="rId3"/>
    <p:sldId id="258" r:id="rId4"/>
    <p:sldId id="259" r:id="rId5"/>
    <p:sldId id="260" r:id="rId6"/>
    <p:sldId id="264" r:id="rId7"/>
    <p:sldId id="265" r:id="rId8"/>
    <p:sldId id="266" r:id="rId9"/>
    <p:sldId id="269" r:id="rId10"/>
    <p:sldId id="270" r:id="rId11"/>
    <p:sldId id="263" r:id="rId12"/>
    <p:sldId id="261" r:id="rId13"/>
    <p:sldId id="262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209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-132" y="-9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124069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69975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177237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157292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333818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179337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379336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360063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3517172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154109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3939368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2695983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1274139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78588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51BA9EB-EEFF-4B50-A197-D214DDCF1621}" type="datetimeFigureOut">
              <a:rPr lang="el-GR" smtClean="0"/>
              <a:pPr/>
              <a:t>19/3/2026</a:t>
            </a:fld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FB6D5A5-5072-46E6-8207-0BF8058F1A49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708735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6056FCB5-3923-1AB1-E943-7E12DB0CE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Log Analysis </a:t>
            </a:r>
            <a:endParaRPr lang="el-GR" dirty="0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xmlns="" id="{39ED4F18-BEC2-459C-F22F-CD2CDCACA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280209"/>
          </a:xfrm>
        </p:spPr>
        <p:txBody>
          <a:bodyPr>
            <a:normAutofit/>
          </a:bodyPr>
          <a:lstStyle/>
          <a:p>
            <a:r>
              <a:rPr lang="el-GR" dirty="0"/>
              <a:t>Ομάδα </a:t>
            </a:r>
            <a:r>
              <a:rPr lang="en-US" dirty="0" err="1"/>
              <a:t>Atoutaler</a:t>
            </a:r>
            <a:r>
              <a:rPr lang="en-US" dirty="0"/>
              <a:t>:</a:t>
            </a:r>
            <a:r>
              <a:rPr lang="el-GR" dirty="0"/>
              <a:t> </a:t>
            </a:r>
          </a:p>
          <a:p>
            <a:r>
              <a:rPr lang="el-GR" dirty="0"/>
              <a:t>Χρήστος Παπουτσής | Χρήστος Θεοδώρου | Δημήτρης </a:t>
            </a:r>
            <a:r>
              <a:rPr lang="el-GR" dirty="0" err="1"/>
              <a:t>Καζινέρης</a:t>
            </a:r>
            <a:r>
              <a:rPr lang="el-GR" dirty="0"/>
              <a:t> | Δημήτρης </a:t>
            </a:r>
            <a:r>
              <a:rPr lang="el-GR" dirty="0" err="1"/>
              <a:t>Στερνάς</a:t>
            </a:r>
            <a:endParaRPr lang="en-US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xmlns="" val="392877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		GNS3 </a:t>
            </a:r>
            <a:r>
              <a:rPr lang="el-GR" dirty="0" smtClean="0"/>
              <a:t>Προεργασία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l-G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B1D6ED6F-0260-4A8C-93A2-ECA578EE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ΛΕΙΤΟΥΡΓΙΑ ΤΟΥ </a:t>
            </a:r>
            <a:r>
              <a:rPr lang="en-US" dirty="0"/>
              <a:t>AI Log Analysis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EAAACD53-F047-085B-F6A1-147070A9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7" y="1027522"/>
            <a:ext cx="10554574" cy="6938128"/>
          </a:xfrm>
        </p:spPr>
        <p:txBody>
          <a:bodyPr/>
          <a:lstStyle/>
          <a:p>
            <a:r>
              <a:rPr lang="el-GR" dirty="0"/>
              <a:t>Το </a:t>
            </a:r>
            <a:r>
              <a:rPr lang="en-US" dirty="0"/>
              <a:t>AI Log Security Analyst </a:t>
            </a:r>
            <a:r>
              <a:rPr lang="el-GR" dirty="0"/>
              <a:t>είναι μία εφαρμογή τύπου </a:t>
            </a:r>
            <a:r>
              <a:rPr lang="en-US" dirty="0"/>
              <a:t>Chatbot</a:t>
            </a:r>
            <a:r>
              <a:rPr lang="el-GR" dirty="0"/>
              <a:t> που δέχεται ακατέργαστα (</a:t>
            </a:r>
            <a:r>
              <a:rPr lang="en-US" dirty="0"/>
              <a:t>Raw logs</a:t>
            </a:r>
            <a:r>
              <a:rPr lang="el-GR" dirty="0"/>
              <a:t>)</a:t>
            </a:r>
            <a:r>
              <a:rPr lang="en-US" dirty="0"/>
              <a:t> </a:t>
            </a:r>
            <a:r>
              <a:rPr lang="el-GR" dirty="0"/>
              <a:t>από </a:t>
            </a:r>
            <a:r>
              <a:rPr lang="en-US" dirty="0"/>
              <a:t>Apache Ubuntu, </a:t>
            </a:r>
            <a:r>
              <a:rPr lang="el-GR" dirty="0"/>
              <a:t>και </a:t>
            </a:r>
            <a:r>
              <a:rPr lang="en-US" dirty="0"/>
              <a:t>ASA Cisco firewall</a:t>
            </a:r>
            <a:r>
              <a:rPr lang="el-GR" dirty="0"/>
              <a:t> και απαντά στις ερωτήσεις του χρήστη  σχετικά με την ασφάλεια του Συστήματος/Δικτύου του.</a:t>
            </a:r>
          </a:p>
          <a:p>
            <a:r>
              <a:rPr lang="el-GR" dirty="0"/>
              <a:t>Εμφανίζοντας παράλληλα στο </a:t>
            </a:r>
            <a:r>
              <a:rPr lang="en-US" dirty="0"/>
              <a:t>interface </a:t>
            </a:r>
            <a:r>
              <a:rPr lang="el-GR" dirty="0"/>
              <a:t>του χρήσιμα στατιστικά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4822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BA5903E1-6C58-3E62-D9E2-85C3758C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Λογική από πίσω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0AE2AB0E-9111-4CB5-44C8-EB145ABFA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222287"/>
            <a:ext cx="10747977" cy="4635713"/>
          </a:xfrm>
        </p:spPr>
        <p:txBody>
          <a:bodyPr/>
          <a:lstStyle/>
          <a:p>
            <a:r>
              <a:rPr lang="el-GR" dirty="0"/>
              <a:t>Το </a:t>
            </a:r>
            <a:r>
              <a:rPr lang="en-US" dirty="0"/>
              <a:t>AI Log Security Analyst </a:t>
            </a:r>
            <a:r>
              <a:rPr lang="el-GR" dirty="0"/>
              <a:t>βασίζεται στο μοντέλο </a:t>
            </a:r>
            <a:r>
              <a:rPr lang="en-US" dirty="0"/>
              <a:t>4o-mini </a:t>
            </a:r>
            <a:r>
              <a:rPr lang="el-GR" dirty="0"/>
              <a:t>της </a:t>
            </a:r>
            <a:r>
              <a:rPr lang="en-US" dirty="0" err="1"/>
              <a:t>Openai</a:t>
            </a:r>
            <a:r>
              <a:rPr lang="el-GR" dirty="0"/>
              <a:t>, χρησιμοποιώντας επίσημο </a:t>
            </a:r>
            <a:r>
              <a:rPr lang="en-US" dirty="0"/>
              <a:t>API KEY</a:t>
            </a:r>
          </a:p>
          <a:p>
            <a:r>
              <a:rPr lang="el-GR" dirty="0"/>
              <a:t>Όμως δεν πρόκειται για μια απλή εφαρμογή του μοντέλου. Το μοντέλο της </a:t>
            </a:r>
            <a:r>
              <a:rPr lang="en-US" dirty="0" err="1"/>
              <a:t>Openai</a:t>
            </a:r>
            <a:r>
              <a:rPr lang="en-US" dirty="0"/>
              <a:t> </a:t>
            </a:r>
            <a:r>
              <a:rPr lang="el-GR" dirty="0"/>
              <a:t>χρησιμοποιείται ώστε να υπάρξει μία </a:t>
            </a:r>
            <a:r>
              <a:rPr lang="el-GR" dirty="0" err="1"/>
              <a:t>ευανάγνωση</a:t>
            </a:r>
            <a:r>
              <a:rPr lang="el-GR" dirty="0"/>
              <a:t>, εύληπτη και φιλική για τον χρήστη απάντηση στις ερωτήσεις του.</a:t>
            </a:r>
          </a:p>
          <a:p>
            <a:r>
              <a:rPr lang="el-GR" dirty="0"/>
              <a:t>Το </a:t>
            </a:r>
            <a:r>
              <a:rPr lang="en-US" dirty="0"/>
              <a:t>AI Log Security Analyst </a:t>
            </a:r>
            <a:r>
              <a:rPr lang="el-GR" dirty="0"/>
              <a:t>κάνει αυτό που λέει το όνομά του, έχει τη δικιά του ‘</a:t>
            </a:r>
            <a:r>
              <a:rPr lang="el-GR" dirty="0" err="1"/>
              <a:t>νοημοσύνη’,’λογική</a:t>
            </a:r>
            <a:r>
              <a:rPr lang="el-GR" dirty="0"/>
              <a:t>’ συμπληρώνοντας αυτή του πρωτοφανούς μοντέλου της </a:t>
            </a:r>
            <a:r>
              <a:rPr lang="en-US" dirty="0" err="1"/>
              <a:t>Openai</a:t>
            </a:r>
            <a:endParaRPr lang="en-US" dirty="0"/>
          </a:p>
          <a:p>
            <a:endParaRPr lang="en-US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xmlns="" val="170019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6E1C4187-10F6-08EB-0700-F956EBB9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Λογική από πίσω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5684769A-5FB4-8AD2-0DEB-EF8A57F0F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097" y="301659"/>
            <a:ext cx="11783505" cy="5557140"/>
          </a:xfrm>
        </p:spPr>
        <p:txBody>
          <a:bodyPr/>
          <a:lstStyle/>
          <a:p>
            <a:r>
              <a:rPr lang="el-GR" dirty="0"/>
              <a:t>Το μοντέλο χρησιμοποιεί τη λογική του </a:t>
            </a:r>
            <a:r>
              <a:rPr lang="en-US" dirty="0"/>
              <a:t>embedding</a:t>
            </a:r>
            <a:r>
              <a:rPr lang="el-GR" dirty="0"/>
              <a:t>, </a:t>
            </a:r>
            <a:r>
              <a:rPr lang="el-GR" dirty="0" smtClean="0"/>
              <a:t>συσχετίζοντας </a:t>
            </a:r>
            <a:r>
              <a:rPr lang="el-GR" dirty="0"/>
              <a:t>να νέα </a:t>
            </a:r>
            <a:r>
              <a:rPr lang="en-US" dirty="0"/>
              <a:t>logs </a:t>
            </a:r>
            <a:r>
              <a:rPr lang="el-GR" dirty="0"/>
              <a:t>που επεξεργάζεται σε πραγματικό χρόνο με αυτά τα οποία έχει εκπαιδευτεί.</a:t>
            </a:r>
          </a:p>
          <a:p>
            <a:r>
              <a:rPr lang="el-GR" dirty="0"/>
              <a:t>Χρησιμοποιεί κανόνες Κανονικών εκφράσεων για να χαρακτηρίσει το κάθε </a:t>
            </a:r>
            <a:r>
              <a:rPr lang="en-US" dirty="0"/>
              <a:t>log</a:t>
            </a:r>
            <a:r>
              <a:rPr lang="el-GR" dirty="0"/>
              <a:t> αν πρόκειται για μία κακόβουλη δραστηριότητα ή πρόκειται για </a:t>
            </a:r>
            <a:r>
              <a:rPr lang="en-US" dirty="0"/>
              <a:t>normal traffic </a:t>
            </a:r>
          </a:p>
          <a:p>
            <a:r>
              <a:rPr lang="el-GR" dirty="0"/>
              <a:t>Πρώτού γίνει το </a:t>
            </a:r>
            <a:r>
              <a:rPr lang="en-US" dirty="0" err="1"/>
              <a:t>embending</a:t>
            </a:r>
            <a:r>
              <a:rPr lang="en-US" dirty="0"/>
              <a:t> </a:t>
            </a:r>
            <a:r>
              <a:rPr lang="el-GR" dirty="0"/>
              <a:t>φέρνει όλα τα </a:t>
            </a:r>
            <a:r>
              <a:rPr lang="en-US" dirty="0"/>
              <a:t>training logs</a:t>
            </a:r>
            <a:r>
              <a:rPr lang="el-GR" dirty="0"/>
              <a:t> σε </a:t>
            </a:r>
            <a:r>
              <a:rPr lang="el-GR" dirty="0" err="1"/>
              <a:t>κανονικοποιημένη</a:t>
            </a:r>
            <a:r>
              <a:rPr lang="el-GR" dirty="0"/>
              <a:t> μορφή κρατώντας τη σημαντική πληροφορία του </a:t>
            </a:r>
            <a:r>
              <a:rPr lang="en-US" dirty="0"/>
              <a:t>log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xmlns="" val="73053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F7FBC5DE-3D46-7FCA-E0E8-5871B645B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xmlns="" id="{B7AFBEBC-002D-BDCE-259A-53B6C5F06A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9" name="Θέση περιεχομένου 8">
            <a:extLst>
              <a:ext uri="{FF2B5EF4-FFF2-40B4-BE49-F238E27FC236}">
                <a16:creationId xmlns:a16="http://schemas.microsoft.com/office/drawing/2014/main" xmlns="" id="{3C609083-45F6-EAFB-3CE2-7E40ADA7D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158239" y="137159"/>
            <a:ext cx="9875520" cy="658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45344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4032B110-CC40-D5D8-0D42-70E7F4D37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Πως φτάνουμε στη τελική απάντηση – βαθμός επικίνδυνης επίθεσης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xmlns="" id="{388FA41B-C9F4-5097-95B7-757E682B6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09108" y="1828800"/>
            <a:ext cx="7756787" cy="375385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AE3F374-5BAF-EFF6-7A4C-485430CE7740}"/>
              </a:ext>
            </a:extLst>
          </p:cNvPr>
          <p:cNvSpPr txBox="1"/>
          <p:nvPr/>
        </p:nvSpPr>
        <p:spPr>
          <a:xfrm>
            <a:off x="1219200" y="5855368"/>
            <a:ext cx="9368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Υπολογίζουμε το </a:t>
            </a:r>
            <a:r>
              <a:rPr lang="en-US" dirty="0"/>
              <a:t>Threat Score,</a:t>
            </a:r>
            <a:r>
              <a:rPr lang="el-GR" dirty="0"/>
              <a:t> κάθε </a:t>
            </a:r>
            <a:r>
              <a:rPr lang="en-US" dirty="0"/>
              <a:t>IP </a:t>
            </a:r>
            <a:r>
              <a:rPr lang="el-GR" dirty="0"/>
              <a:t>και εμφανίζομαι τις </a:t>
            </a:r>
            <a:r>
              <a:rPr lang="en-US" dirty="0"/>
              <a:t>Top 3 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xmlns="" val="165227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3D9276BC-9079-FC66-BC08-73C159E0F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Πως φτάνουνε στη τελική απάντηση</a:t>
            </a:r>
            <a:r>
              <a:rPr lang="en-US" dirty="0"/>
              <a:t> </a:t>
            </a:r>
            <a:r>
              <a:rPr lang="el-GR" dirty="0"/>
              <a:t>(</a:t>
            </a:r>
            <a:r>
              <a:rPr lang="en-US" dirty="0" err="1"/>
              <a:t>Detect_intent</a:t>
            </a:r>
            <a:r>
              <a:rPr lang="en-US" dirty="0"/>
              <a:t>()</a:t>
            </a:r>
            <a:r>
              <a:rPr lang="el-GR" dirty="0"/>
              <a:t>)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xmlns="" id="{A516F22E-85D6-2FD3-ABE1-3C4FB0658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-523348" y="2254584"/>
            <a:ext cx="6145911" cy="415622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xmlns="" id="{D8A07528-F10C-06A0-6D77-6B1F6923A48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5999" y="1644541"/>
            <a:ext cx="4546241" cy="521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33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F94EBF9-0603-7034-DA19-AB6734DC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56EF6B4E-6776-A499-A918-36E62AF1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Πως φτάνουνε στη τελική απάντηση</a:t>
            </a:r>
            <a:r>
              <a:rPr lang="en-US" dirty="0"/>
              <a:t> </a:t>
            </a:r>
            <a:r>
              <a:rPr lang="el-GR" dirty="0"/>
              <a:t>(</a:t>
            </a:r>
            <a:r>
              <a:rPr lang="en-US" dirty="0" err="1"/>
              <a:t>Build_context_time_filter</a:t>
            </a:r>
            <a:r>
              <a:rPr lang="el-GR" dirty="0"/>
              <a:t>)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xmlns="" id="{F0E8E6AD-D9EE-7910-9945-997D44EDC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-523348" y="2240936"/>
            <a:ext cx="6145911" cy="415622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xmlns="" id="{89FAFAFF-0A06-30C9-1B11-26AE1AB4461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1801089"/>
            <a:ext cx="5807242" cy="529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11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8B1C9A-10DF-1252-9543-25F16169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6646217D-034A-F443-F688-37861155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Πως φτάνουνε στη τελική απάντηση</a:t>
            </a:r>
            <a:r>
              <a:rPr lang="en-US" dirty="0"/>
              <a:t> </a:t>
            </a:r>
            <a:r>
              <a:rPr lang="el-GR" dirty="0"/>
              <a:t>(Τελικό </a:t>
            </a:r>
            <a:r>
              <a:rPr lang="en-US" dirty="0" err="1"/>
              <a:t>Promt</a:t>
            </a:r>
            <a:r>
              <a:rPr lang="el-GR" dirty="0"/>
              <a:t>)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xmlns="" id="{CD5AABCB-C797-A621-F2EF-48D76B49D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-523348" y="2254584"/>
            <a:ext cx="6145911" cy="415622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xmlns="" id="{E7EFCED2-E492-0123-46BC-46574A02B7E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78116" y="1957136"/>
            <a:ext cx="6145911" cy="524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5003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ABEEDA1A-C170-C26A-E827-274D2334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Η αξία της ‘λογικής’ του</a:t>
            </a:r>
            <a:r>
              <a:rPr lang="en-US" dirty="0"/>
              <a:t> AI Log Analysis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20B51BEA-9EFF-6FB8-6A12-DBB4C6FF7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-673769"/>
            <a:ext cx="10563286" cy="8758989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l-GR" dirty="0"/>
              <a:t> Το </a:t>
            </a:r>
            <a:r>
              <a:rPr lang="en-US" dirty="0" err="1"/>
              <a:t>Openai</a:t>
            </a:r>
            <a:r>
              <a:rPr lang="en-US" dirty="0"/>
              <a:t> </a:t>
            </a:r>
            <a:r>
              <a:rPr lang="el-GR" dirty="0"/>
              <a:t>μοντέλο,</a:t>
            </a:r>
            <a:r>
              <a:rPr lang="en-US" dirty="0"/>
              <a:t>4o-mini,</a:t>
            </a:r>
            <a:r>
              <a:rPr lang="el-GR" dirty="0"/>
              <a:t> μπορεί εύκολα να μπερδευτεί δίνοντας του χιλιάδες </a:t>
            </a:r>
            <a:r>
              <a:rPr lang="en-US" dirty="0"/>
              <a:t>raw</a:t>
            </a:r>
            <a:r>
              <a:rPr lang="el-GR" dirty="0"/>
              <a:t> </a:t>
            </a:r>
            <a:r>
              <a:rPr lang="en-US" dirty="0"/>
              <a:t>logs</a:t>
            </a:r>
            <a:r>
              <a:rPr lang="el-GR" dirty="0"/>
              <a:t>. Η περιττή πληροφορία ,ο μεγάλος όγκος πληροφορίας, τα πολλαπλά μοτίβα των </a:t>
            </a:r>
            <a:r>
              <a:rPr lang="en-US" dirty="0"/>
              <a:t>logs , </a:t>
            </a:r>
            <a:r>
              <a:rPr lang="el-GR" dirty="0"/>
              <a:t>προκαλούν </a:t>
            </a:r>
            <a:r>
              <a:rPr lang="en-US" altLang="el-GR" dirty="0">
                <a:latin typeface="Arial" panose="020B0604020202020204" pitchFamily="34" charset="0"/>
              </a:rPr>
              <a:t>h</a:t>
            </a:r>
            <a:r>
              <a:rPr lang="el-GR" altLang="el-GR" dirty="0" err="1">
                <a:latin typeface="Arial" panose="020B0604020202020204" pitchFamily="34" charset="0"/>
              </a:rPr>
              <a:t>allucinations</a:t>
            </a:r>
            <a:r>
              <a:rPr lang="en-US" altLang="el-GR" dirty="0">
                <a:latin typeface="Arial" panose="020B0604020202020204" pitchFamily="34" charset="0"/>
              </a:rPr>
              <a:t>, </a:t>
            </a:r>
            <a:r>
              <a:rPr lang="el-GR" altLang="el-GR" dirty="0" err="1">
                <a:latin typeface="Arial" panose="020B0604020202020204" pitchFamily="34" charset="0"/>
              </a:rPr>
              <a:t>inconsistent</a:t>
            </a:r>
            <a:r>
              <a:rPr lang="el-GR" altLang="el-GR" dirty="0">
                <a:latin typeface="Arial" panose="020B0604020202020204" pitchFamily="34" charset="0"/>
              </a:rPr>
              <a:t> απαντήσεις, και καταλήγει στο να μην κάνει </a:t>
            </a:r>
            <a:r>
              <a:rPr lang="el-GR" altLang="el-GR" dirty="0" err="1">
                <a:latin typeface="Arial" panose="020B0604020202020204" pitchFamily="34" charset="0"/>
              </a:rPr>
              <a:t>detection</a:t>
            </a:r>
            <a:r>
              <a:rPr lang="el-GR" altLang="el-GR" dirty="0">
                <a:latin typeface="Arial" panose="020B0604020202020204" pitchFamily="34" charset="0"/>
              </a:rPr>
              <a:t> σωστά.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l-GR" altLang="el-GR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l-GR" altLang="el-GR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l-GR" altLang="el-GR" dirty="0">
                <a:latin typeface="Arial" panose="020B0604020202020204" pitchFamily="34" charset="0"/>
              </a:rPr>
              <a:t> Επίσης το κόστος είναι τεράστιο και η υπολογιστική </a:t>
            </a:r>
            <a:r>
              <a:rPr lang="el-GR" altLang="el-GR" dirty="0" smtClean="0">
                <a:latin typeface="Arial" panose="020B0604020202020204" pitchFamily="34" charset="0"/>
              </a:rPr>
              <a:t>ισχύ </a:t>
            </a:r>
            <a:r>
              <a:rPr lang="el-GR" altLang="el-GR" dirty="0">
                <a:latin typeface="Arial" panose="020B0604020202020204" pitchFamily="34" charset="0"/>
              </a:rPr>
              <a:t>που χρησιμοποιείται χωρίς αποτέλεσμα , αφού δεν ενώνονται τα </a:t>
            </a:r>
            <a:r>
              <a:rPr lang="en-US" altLang="el-GR" dirty="0">
                <a:latin typeface="Arial" panose="020B0604020202020204" pitchFamily="34" charset="0"/>
              </a:rPr>
              <a:t>patterns </a:t>
            </a:r>
            <a:r>
              <a:rPr lang="el-GR" altLang="el-GR" dirty="0">
                <a:latin typeface="Arial" panose="020B0604020202020204" pitchFamily="34" charset="0"/>
              </a:rPr>
              <a:t>όλα μαζί , αλλά κάθε </a:t>
            </a:r>
            <a:r>
              <a:rPr lang="en-US" altLang="el-GR" dirty="0">
                <a:latin typeface="Arial" panose="020B0604020202020204" pitchFamily="34" charset="0"/>
              </a:rPr>
              <a:t>log </a:t>
            </a:r>
            <a:r>
              <a:rPr lang="el-GR" altLang="el-GR" dirty="0">
                <a:latin typeface="Arial" panose="020B0604020202020204" pitchFamily="34" charset="0"/>
              </a:rPr>
              <a:t>είναι μια κατηγορία μόνο.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xmlns="" val="4248952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27426F88-90F7-8429-BBDE-37799FA9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Επιθέσεις που ανιχνεύει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59EBEF96-8C75-9C31-591F-411E046C5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03" y="946484"/>
            <a:ext cx="3244971" cy="6160169"/>
          </a:xfrm>
        </p:spPr>
        <p:txBody>
          <a:bodyPr>
            <a:normAutofit/>
          </a:bodyPr>
          <a:lstStyle/>
          <a:p>
            <a:r>
              <a:rPr lang="en-US" b="1" dirty="0"/>
              <a:t>Reconnaissance</a:t>
            </a:r>
          </a:p>
          <a:p>
            <a:r>
              <a:rPr lang="en-US" dirty="0" err="1"/>
              <a:t>vulnerability_scanner</a:t>
            </a:r>
            <a:endParaRPr lang="en-US" dirty="0"/>
          </a:p>
          <a:p>
            <a:r>
              <a:rPr lang="en-US" dirty="0" err="1"/>
              <a:t>directory_enumeration</a:t>
            </a:r>
            <a:endParaRPr lang="en-US" dirty="0"/>
          </a:p>
          <a:p>
            <a:r>
              <a:rPr lang="en-US" dirty="0" err="1"/>
              <a:t>web_fingerprinting</a:t>
            </a:r>
            <a:endParaRPr lang="en-US" dirty="0"/>
          </a:p>
          <a:p>
            <a:r>
              <a:rPr lang="en-US" dirty="0" err="1"/>
              <a:t>sensitive_file_probe</a:t>
            </a:r>
            <a:endParaRPr lang="en-US" dirty="0"/>
          </a:p>
          <a:p>
            <a:r>
              <a:rPr lang="en-US" dirty="0" err="1"/>
              <a:t>backup_file_probe</a:t>
            </a:r>
            <a:endParaRPr lang="en-US" dirty="0"/>
          </a:p>
          <a:p>
            <a:r>
              <a:rPr lang="en-US" dirty="0" err="1"/>
              <a:t>config_file_probe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Θέση περιεχομένου 2">
            <a:extLst>
              <a:ext uri="{FF2B5EF4-FFF2-40B4-BE49-F238E27FC236}">
                <a16:creationId xmlns:a16="http://schemas.microsoft.com/office/drawing/2014/main" xmlns="" id="{9C1C8BAD-F573-B0AB-78D9-83A22BB7FB46}"/>
              </a:ext>
            </a:extLst>
          </p:cNvPr>
          <p:cNvSpPr txBox="1">
            <a:spLocks/>
          </p:cNvSpPr>
          <p:nvPr/>
        </p:nvSpPr>
        <p:spPr>
          <a:xfrm>
            <a:off x="4142419" y="2069432"/>
            <a:ext cx="3244971" cy="434138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Injection Attacks</a:t>
            </a:r>
          </a:p>
          <a:p>
            <a:r>
              <a:rPr lang="en-US" dirty="0" err="1"/>
              <a:t>sql_injection</a:t>
            </a:r>
            <a:endParaRPr lang="en-US" dirty="0"/>
          </a:p>
          <a:p>
            <a:r>
              <a:rPr lang="en-US" dirty="0" err="1"/>
              <a:t>sql_injection_union</a:t>
            </a:r>
            <a:endParaRPr lang="en-US" dirty="0"/>
          </a:p>
          <a:p>
            <a:r>
              <a:rPr lang="en-US" dirty="0" err="1"/>
              <a:t>sql_injection_blind</a:t>
            </a:r>
            <a:endParaRPr lang="en-US" dirty="0"/>
          </a:p>
          <a:p>
            <a:r>
              <a:rPr lang="en-US" dirty="0" err="1"/>
              <a:t>sql_injection_time</a:t>
            </a:r>
            <a:endParaRPr lang="en-US" dirty="0"/>
          </a:p>
          <a:p>
            <a:r>
              <a:rPr lang="en-US" dirty="0" err="1"/>
              <a:t>sql_injection_error</a:t>
            </a:r>
            <a:endParaRPr lang="en-US" dirty="0"/>
          </a:p>
          <a:p>
            <a:r>
              <a:rPr lang="en-US" dirty="0" err="1"/>
              <a:t>xss_reflected</a:t>
            </a:r>
            <a:endParaRPr lang="en-US" dirty="0"/>
          </a:p>
          <a:p>
            <a:r>
              <a:rPr lang="en-US" dirty="0" err="1"/>
              <a:t>xss_stored</a:t>
            </a:r>
            <a:endParaRPr lang="en-US" dirty="0"/>
          </a:p>
          <a:p>
            <a:r>
              <a:rPr lang="en-US" dirty="0" err="1"/>
              <a:t>command_injection</a:t>
            </a:r>
            <a:endParaRPr lang="en-US" dirty="0"/>
          </a:p>
          <a:p>
            <a:r>
              <a:rPr lang="en-US" dirty="0" err="1"/>
              <a:t>code_injection</a:t>
            </a:r>
            <a:endParaRPr lang="en-US" dirty="0"/>
          </a:p>
          <a:p>
            <a:r>
              <a:rPr lang="en-US" dirty="0" err="1"/>
              <a:t>ldap_injection</a:t>
            </a:r>
            <a:endParaRPr lang="en-US" dirty="0"/>
          </a:p>
          <a:p>
            <a:r>
              <a:rPr lang="en-US" dirty="0" err="1"/>
              <a:t>xpath_injection</a:t>
            </a:r>
            <a:endParaRPr lang="en-US" dirty="0"/>
          </a:p>
          <a:p>
            <a:r>
              <a:rPr lang="en-US" dirty="0" err="1"/>
              <a:t>ssi_injection</a:t>
            </a:r>
            <a:endParaRPr lang="en-US" dirty="0"/>
          </a:p>
        </p:txBody>
      </p:sp>
      <p:sp>
        <p:nvSpPr>
          <p:cNvPr id="5" name="Θέση περιεχομένου 2">
            <a:extLst>
              <a:ext uri="{FF2B5EF4-FFF2-40B4-BE49-F238E27FC236}">
                <a16:creationId xmlns:a16="http://schemas.microsoft.com/office/drawing/2014/main" xmlns="" id="{72CF2344-5BF7-E27F-6765-D2C628DC1B0A}"/>
              </a:ext>
            </a:extLst>
          </p:cNvPr>
          <p:cNvSpPr txBox="1">
            <a:spLocks/>
          </p:cNvSpPr>
          <p:nvPr/>
        </p:nvSpPr>
        <p:spPr>
          <a:xfrm>
            <a:off x="7615535" y="2091455"/>
            <a:ext cx="3244971" cy="434138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Path Traversal &amp; File Inclusion</a:t>
            </a:r>
          </a:p>
          <a:p>
            <a:r>
              <a:rPr lang="en-US" dirty="0" err="1"/>
              <a:t>path_traversal</a:t>
            </a:r>
            <a:endParaRPr lang="en-US" dirty="0"/>
          </a:p>
          <a:p>
            <a:r>
              <a:rPr lang="en-US" dirty="0" err="1"/>
              <a:t>lfi</a:t>
            </a:r>
            <a:endParaRPr lang="en-US" dirty="0"/>
          </a:p>
          <a:p>
            <a:r>
              <a:rPr lang="en-US" dirty="0" err="1"/>
              <a:t>rfi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Authentication Attacks</a:t>
            </a:r>
          </a:p>
          <a:p>
            <a:r>
              <a:rPr lang="en-US" dirty="0" err="1"/>
              <a:t>brute_force_ssh</a:t>
            </a:r>
            <a:endParaRPr lang="en-US" dirty="0"/>
          </a:p>
          <a:p>
            <a:r>
              <a:rPr lang="en-US" dirty="0" err="1"/>
              <a:t>brute_force_web</a:t>
            </a:r>
            <a:endParaRPr lang="en-US" dirty="0"/>
          </a:p>
          <a:p>
            <a:r>
              <a:rPr lang="en-US" dirty="0"/>
              <a:t>LOGIN_PATTERNS</a:t>
            </a:r>
          </a:p>
          <a:p>
            <a:r>
              <a:rPr lang="en-US" dirty="0" err="1"/>
              <a:t>credential_stuffing</a:t>
            </a:r>
            <a:endParaRPr lang="en-US" dirty="0"/>
          </a:p>
          <a:p>
            <a:r>
              <a:rPr lang="en-US" dirty="0" err="1"/>
              <a:t>password_spray</a:t>
            </a:r>
            <a:endParaRPr lang="en-US" dirty="0"/>
          </a:p>
          <a:p>
            <a:r>
              <a:rPr lang="en-US" dirty="0" err="1"/>
              <a:t>default_credentials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31807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94E57A46-46A5-2AEB-236E-AF1AE400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Επιθέσεις που ανιχνεύει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730871A2-51D3-656F-0DE4-69F4322F7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3673077" cy="363651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Web Application Attacks</a:t>
            </a:r>
          </a:p>
          <a:p>
            <a:r>
              <a:rPr lang="en-US" dirty="0" err="1"/>
              <a:t>admin_panel_probe</a:t>
            </a:r>
            <a:endParaRPr lang="en-US" dirty="0"/>
          </a:p>
          <a:p>
            <a:r>
              <a:rPr lang="en-US" dirty="0" err="1"/>
              <a:t>cms_exploit</a:t>
            </a:r>
            <a:endParaRPr lang="en-US" dirty="0"/>
          </a:p>
          <a:p>
            <a:r>
              <a:rPr lang="en-US" dirty="0" err="1"/>
              <a:t>webshell_upload</a:t>
            </a:r>
            <a:endParaRPr lang="en-US" dirty="0"/>
          </a:p>
          <a:p>
            <a:r>
              <a:rPr lang="en-US" dirty="0" err="1"/>
              <a:t>file_upload_bypass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Protocol / Server Attacks</a:t>
            </a:r>
          </a:p>
          <a:p>
            <a:r>
              <a:rPr lang="en-US" dirty="0" err="1"/>
              <a:t>http_method_tampering</a:t>
            </a:r>
            <a:endParaRPr lang="en-US" dirty="0"/>
          </a:p>
          <a:p>
            <a:r>
              <a:rPr lang="en-US" dirty="0" err="1"/>
              <a:t>http_smuggling</a:t>
            </a:r>
            <a:endParaRPr lang="en-US" dirty="0"/>
          </a:p>
          <a:p>
            <a:r>
              <a:rPr lang="en-US" dirty="0" err="1"/>
              <a:t>header_injection</a:t>
            </a:r>
            <a:endParaRPr lang="en-US" dirty="0"/>
          </a:p>
          <a:p>
            <a:endParaRPr lang="el-GR" dirty="0"/>
          </a:p>
        </p:txBody>
      </p:sp>
      <p:sp>
        <p:nvSpPr>
          <p:cNvPr id="4" name="Θέση περιεχομένου 2">
            <a:extLst>
              <a:ext uri="{FF2B5EF4-FFF2-40B4-BE49-F238E27FC236}">
                <a16:creationId xmlns:a16="http://schemas.microsoft.com/office/drawing/2014/main" xmlns="" id="{1ED862D8-FEDD-311F-54E2-0952CF936A46}"/>
              </a:ext>
            </a:extLst>
          </p:cNvPr>
          <p:cNvSpPr txBox="1">
            <a:spLocks/>
          </p:cNvSpPr>
          <p:nvPr/>
        </p:nvSpPr>
        <p:spPr>
          <a:xfrm>
            <a:off x="4491789" y="2107450"/>
            <a:ext cx="3673077" cy="444116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Infrastructure Attacks</a:t>
            </a:r>
          </a:p>
          <a:p>
            <a:r>
              <a:rPr lang="en-US" dirty="0" err="1"/>
              <a:t>cisco_ios_probe</a:t>
            </a:r>
            <a:endParaRPr lang="en-US" dirty="0"/>
          </a:p>
          <a:p>
            <a:r>
              <a:rPr lang="en-US" dirty="0" err="1"/>
              <a:t>router_exploit</a:t>
            </a:r>
            <a:endParaRPr lang="en-US" dirty="0"/>
          </a:p>
          <a:p>
            <a:r>
              <a:rPr lang="en-US" dirty="0" err="1"/>
              <a:t>iis_exploit</a:t>
            </a:r>
            <a:endParaRPr lang="en-US" dirty="0"/>
          </a:p>
          <a:p>
            <a:r>
              <a:rPr lang="en-US" dirty="0" err="1"/>
              <a:t>apache_exploit</a:t>
            </a:r>
            <a:endParaRPr lang="en-US" dirty="0"/>
          </a:p>
          <a:p>
            <a:r>
              <a:rPr lang="en-US" dirty="0" err="1"/>
              <a:t>tomcat_exploit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Cisco ASA Firewall Attacks</a:t>
            </a:r>
          </a:p>
          <a:p>
            <a:r>
              <a:rPr lang="en-US" dirty="0" err="1"/>
              <a:t>asa_port_scan</a:t>
            </a:r>
            <a:endParaRPr lang="en-US" dirty="0"/>
          </a:p>
          <a:p>
            <a:r>
              <a:rPr lang="en-US" dirty="0" err="1"/>
              <a:t>asa_fw_bypass</a:t>
            </a:r>
            <a:endParaRPr lang="en-US" dirty="0"/>
          </a:p>
          <a:p>
            <a:r>
              <a:rPr lang="en-US" dirty="0" err="1"/>
              <a:t>asa_vpn_bruteforce</a:t>
            </a:r>
            <a:endParaRPr lang="en-US" dirty="0"/>
          </a:p>
          <a:p>
            <a:r>
              <a:rPr lang="en-US" dirty="0" err="1"/>
              <a:t>asa_connection_flood</a:t>
            </a:r>
            <a:endParaRPr lang="en-US" dirty="0"/>
          </a:p>
          <a:p>
            <a:r>
              <a:rPr lang="en-US" dirty="0" err="1"/>
              <a:t>asa_denied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B9E7D24-F17E-E419-A017-A55201F70CD3}"/>
              </a:ext>
            </a:extLst>
          </p:cNvPr>
          <p:cNvSpPr txBox="1"/>
          <p:nvPr/>
        </p:nvSpPr>
        <p:spPr>
          <a:xfrm>
            <a:off x="8490284" y="2722148"/>
            <a:ext cx="61040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DoS / DDoS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ddos</a:t>
            </a:r>
            <a:endParaRPr lang="en-US" dirty="0"/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Benign Traffic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xmlns="" val="3428466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xmlns="" id="{1674BF97-2AB4-7F06-7BE9-4560D06B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DEMO</a:t>
            </a: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xmlns="" id="{6DF5CAD8-83D2-3632-138F-A198CE5CB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1026" name="AutoShape 2" descr="Screenshot from 2026-03-19 06-54-50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028" name="AutoShape 4" descr="Screenshot from 2026-03-19 06-54-50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1029" name="Picture 5" descr="C:\Users\theoc\Downloads\Screenshot from 2026-03-19 06-54-5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3041" y="0"/>
            <a:ext cx="11088167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833598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29698" name="Picture 2" descr="C:\Users\theoc\Downloads\Screenshot from 2026-03-19 06-33-34 (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9739" y="0"/>
            <a:ext cx="10485027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30722" name="Picture 2" descr="C:\Users\theoc\Downloads\Screenshot from 2026-03-19 06-33-4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3486" y="0"/>
            <a:ext cx="10485028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31746" name="Picture 2" descr="C:\Users\theoc\Downloads\Screenshot from 2026-03-19 06-55-0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1916" y="0"/>
            <a:ext cx="11088168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32770" name="Picture 2" descr="C:\Users\theoc\Downloads\Screenshot from 2026-03-19 06-55-1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1916" y="0"/>
            <a:ext cx="11088168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Αξιομνημόνευτο">
  <a:themeElements>
    <a:clrScheme name="Αξιομνημόνευτο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Αξιομνημόνευτο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Αξιομνημόνευτο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TM03457503[[fn=Αξιομνημόνευτο]]</Template>
  <TotalTime>922</TotalTime>
  <Words>403</Words>
  <Application>Microsoft Office PowerPoint</Application>
  <PresentationFormat>Προσαρμογή</PresentationFormat>
  <Paragraphs>89</Paragraphs>
  <Slides>18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18</vt:i4>
      </vt:variant>
    </vt:vector>
  </HeadingPairs>
  <TitlesOfParts>
    <vt:vector size="19" baseType="lpstr">
      <vt:lpstr>Αξιομνημόνευτο</vt:lpstr>
      <vt:lpstr>AI Log Analysis </vt:lpstr>
      <vt:lpstr>      GNS3 Προεργασία</vt:lpstr>
      <vt:lpstr>ΛΕΙΤΟΥΡΓΙΑ ΤΟΥ AI Log Analysis</vt:lpstr>
      <vt:lpstr>Λογική από πίσω</vt:lpstr>
      <vt:lpstr>Λογική από πίσω</vt:lpstr>
      <vt:lpstr>Διαφάνεια 6</vt:lpstr>
      <vt:lpstr>Πως φτάνουμε στη τελική απάντηση – βαθμός επικίνδυνης επίθεσης</vt:lpstr>
      <vt:lpstr>Πως φτάνουνε στη τελική απάντηση (Detect_intent())</vt:lpstr>
      <vt:lpstr>Πως φτάνουνε στη τελική απάντηση (Build_context_time_filter)</vt:lpstr>
      <vt:lpstr>Πως φτάνουνε στη τελική απάντηση (Τελικό Promt)</vt:lpstr>
      <vt:lpstr>Η αξία της ‘λογικής’ του AI Log Analysis</vt:lpstr>
      <vt:lpstr>Επιθέσεις που ανιχνεύει</vt:lpstr>
      <vt:lpstr>Επιθέσεις που ανιχνεύει</vt:lpstr>
      <vt:lpstr>DEMO</vt:lpstr>
      <vt:lpstr>Διαφάνεια 15</vt:lpstr>
      <vt:lpstr>Διαφάνεια 16</vt:lpstr>
      <vt:lpstr>Διαφάνεια 17</vt:lpstr>
      <vt:lpstr>Διαφάνεια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Log Analysis </dc:title>
  <dc:creator>Chris Theod</dc:creator>
  <cp:lastModifiedBy>theoc</cp:lastModifiedBy>
  <cp:revision>16</cp:revision>
  <dcterms:created xsi:type="dcterms:W3CDTF">2026-03-18T16:22:01Z</dcterms:created>
  <dcterms:modified xsi:type="dcterms:W3CDTF">2026-03-19T09:07:20Z</dcterms:modified>
</cp:coreProperties>
</file>